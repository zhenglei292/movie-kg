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37479e01794e4e" /><Relationship Type="http://schemas.openxmlformats.org/officeDocument/2006/relationships/extended-properties" Target="/docProps/app.xml" Id="Rcc44212bc8654b81" /><Relationship Type="http://schemas.openxmlformats.org/officeDocument/2006/relationships/officeDocument" Target="/ppt/presentation.xml" Id="Rab4fdec67e4846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7b9a98aa42428d"/>
  </p:sldMasterIdLst>
  <p:notesMasterIdLst>
    <p:notesMasterId xmlns:r="http://schemas.openxmlformats.org/officeDocument/2006/relationships" r:id="R2f78e588993348a0"/>
  </p:notesMasterIdLst>
  <p:sldIdLst>
    <p:sldId xmlns:r="http://schemas.openxmlformats.org/officeDocument/2006/relationships" id="256" r:id="Rb7ee47bd30c1470b"/>
    <p:sldId xmlns:r="http://schemas.openxmlformats.org/officeDocument/2006/relationships" id="257" r:id="R2f1f5de2017b439a"/>
    <p:sldId xmlns:r="http://schemas.openxmlformats.org/officeDocument/2006/relationships" id="258" r:id="Rc2bed9da543e466a"/>
    <p:sldId xmlns:r="http://schemas.openxmlformats.org/officeDocument/2006/relationships" id="259" r:id="Rb36172119f404f91"/>
    <p:sldId xmlns:r="http://schemas.openxmlformats.org/officeDocument/2006/relationships" id="260" r:id="R2cf8d445f5f34f2f"/>
    <p:sldId xmlns:r="http://schemas.openxmlformats.org/officeDocument/2006/relationships" id="261" r:id="Rab3c4d3e11324ce7"/>
    <p:sldId xmlns:r="http://schemas.openxmlformats.org/officeDocument/2006/relationships" id="262" r:id="R4c7d9203d6124ace"/>
    <p:sldId xmlns:r="http://schemas.openxmlformats.org/officeDocument/2006/relationships" id="263" r:id="Rabbaaa69850c4197"/>
    <p:sldId xmlns:r="http://schemas.openxmlformats.org/officeDocument/2006/relationships" id="264" r:id="Rcb4f33e347304b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99612ad13d4197" /><Relationship Type="http://schemas.openxmlformats.org/officeDocument/2006/relationships/slideMaster" Target="/ppt/slideMasters/slideMaster1.xml" Id="R8e7b9a98aa42428d" /><Relationship Type="http://schemas.openxmlformats.org/officeDocument/2006/relationships/notesMaster" Target="/ppt/notesMasters/notesMaster1.xml" Id="R2f78e588993348a0" /><Relationship Type="http://schemas.openxmlformats.org/officeDocument/2006/relationships/presProps" Target="/ppt/presProps.xml" Id="R42e166e0c4d540e2" /><Relationship Type="http://schemas.openxmlformats.org/officeDocument/2006/relationships/tableStyles" Target="/ppt/tableStyles.xml" Id="R5c8c8a5e302f42ac" /><Relationship Type="http://schemas.openxmlformats.org/officeDocument/2006/relationships/slide" Target="/ppt/slides/slide1.xml" Id="Rb7ee47bd30c1470b" /><Relationship Type="http://schemas.openxmlformats.org/officeDocument/2006/relationships/slide" Target="/ppt/slides/slide2.xml" Id="R2f1f5de2017b439a" /><Relationship Type="http://schemas.openxmlformats.org/officeDocument/2006/relationships/slide" Target="/ppt/slides/slide3.xml" Id="Rc2bed9da543e466a" /><Relationship Type="http://schemas.openxmlformats.org/officeDocument/2006/relationships/slide" Target="/ppt/slides/slide4.xml" Id="Rb36172119f404f91" /><Relationship Type="http://schemas.openxmlformats.org/officeDocument/2006/relationships/slide" Target="/ppt/slides/slide5.xml" Id="R2cf8d445f5f34f2f" /><Relationship Type="http://schemas.openxmlformats.org/officeDocument/2006/relationships/slide" Target="/ppt/slides/slide6.xml" Id="Rab3c4d3e11324ce7" /><Relationship Type="http://schemas.openxmlformats.org/officeDocument/2006/relationships/slide" Target="/ppt/slides/slide7.xml" Id="R4c7d9203d6124ace" /><Relationship Type="http://schemas.openxmlformats.org/officeDocument/2006/relationships/slide" Target="/ppt/slides/slide8.xml" Id="Rabbaaa69850c4197" /><Relationship Type="http://schemas.openxmlformats.org/officeDocument/2006/relationships/slide" Target="/ppt/slides/slide9.xml" Id="Rcb4f33e347304b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2045c322f54c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a2e831ba5d47c1" /><Relationship Type="http://schemas.openxmlformats.org/officeDocument/2006/relationships/notesMaster" Target="/ppt/notesMasters/notesMaster1.xml" Id="R8ed0c21da78049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193a9754e745e7" /><Relationship Type="http://schemas.openxmlformats.org/officeDocument/2006/relationships/notesMaster" Target="/ppt/notesMasters/notesMaster1.xml" Id="R45f245bc49b84b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b714b6418f4da3" /><Relationship Type="http://schemas.openxmlformats.org/officeDocument/2006/relationships/notesMaster" Target="/ppt/notesMasters/notesMaster1.xml" Id="R2a8079d915144d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2fa043d73a4b88" /><Relationship Type="http://schemas.openxmlformats.org/officeDocument/2006/relationships/notesMaster" Target="/ppt/notesMasters/notesMaster1.xml" Id="Rf3704bc95d2243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d8c89342f04488" /><Relationship Type="http://schemas.openxmlformats.org/officeDocument/2006/relationships/notesMaster" Target="/ppt/notesMasters/notesMaster1.xml" Id="R4789c6b6e29d4a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dc2457e0404f54" /><Relationship Type="http://schemas.openxmlformats.org/officeDocument/2006/relationships/notesMaster" Target="/ppt/notesMasters/notesMaster1.xml" Id="R00ad308f90dd4c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5b6e9ba09540cf" /><Relationship Type="http://schemas.openxmlformats.org/officeDocument/2006/relationships/notesMaster" Target="/ppt/notesMasters/notesMaster1.xml" Id="R481c339473f84f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db676364a1437f" /><Relationship Type="http://schemas.openxmlformats.org/officeDocument/2006/relationships/notesMaster" Target="/ppt/notesMasters/notesMaster1.xml" Id="R7a38a4aed8f44c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fd61f1ef1a4d93" /><Relationship Type="http://schemas.openxmlformats.org/officeDocument/2006/relationships/notesMaster" Target="/ppt/notesMasters/notesMaster1.xml" Id="Rf0ea3383b9fb44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https://papers.nips.cc/paper/5071-translating-embeddings-for-modeling-multi-relational-data.pdf</a:t>
            </a:r>
          </a:p>
          <a:p xmlns:a="http://schemas.openxmlformats.org/drawingml/2006/main">
            <a:r>
              <a:t>Bordes, Usunier, Garcia-Durán, Weston, Yakhnenko. NIPS 2013. 本项目未训练或复现 TransE。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https://papers.nips.cc/paper/5071-translating-embeddings-for-modeling-multi-relational-data.pdf 第1节、第4.2节。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https://papers.nips.cc/paper/5071-translating-embeddings-for-modeling-multi-relational-data.pdf 第2节。距离采用 L1 或 L2 范数，能量越小表示越符合模型。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https://papers.nips.cc/paper/5071-translating-embeddings-for-modeling-multi-relational-data.pdf 公式1、2及算法1。负例随机替换一端，不保证每个未观测三元组在现实中都是错误事实。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https://papers.nips.cc/paper/5071-translating-embeddings-for-modeling-multi-relational-data.pdf 原论文表2，第4页。FB1M规模数值为原文约数。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https://papers.nips.cc/paper/5071-translating-embeddings-for-modeling-multi-relational-data.pdf 第4.2节。Filtered 排除训练、验证、测试中已存在的其他真三元组，保留当前评价目标。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https://papers.nips.cc/paper/5071-translating-embeddings-for-modeling-multi-relational-data.pdf 表3，第6页。TransE 结果。表内 Filt. 为 Filtered。未进行本组复现。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https://papers.nips.cc/paper/5071-translating-embeddings-for-modeling-multi-relational-data.pdf 第3节与表4。关于同一 h+r 对应多个尾实体的解释为对模型公式的分析。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https://papers.nips.cc/paper/5071-translating-embeddings-for-modeling-multi-relational-data.pdf 与本项目 README.md。共享关系计数是现有实现，TransE 是潜在扩展，不混淆两者。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aae7f80174a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da524dc7cd4d76" /><Relationship Type="http://schemas.openxmlformats.org/officeDocument/2006/relationships/slideLayout" Target="/ppt/slideLayouts/slideLayout1.xml" Id="R81d59f2bbdf840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d59f2bbdf840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d7e9059f54361" /><Relationship Type="http://schemas.openxmlformats.org/officeDocument/2006/relationships/notesSlide" Target="/ppt/notesSlides/notesSlide1.xml" Id="R1db3a76afa2e49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e465ac1174357" /><Relationship Type="http://schemas.openxmlformats.org/officeDocument/2006/relationships/notesSlide" Target="/ppt/notesSlides/notesSlide2.xml" Id="R28da4178933746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e00fd16ff4841" /><Relationship Type="http://schemas.openxmlformats.org/officeDocument/2006/relationships/notesSlide" Target="/ppt/notesSlides/notesSlide3.xml" Id="Rddb48fe5067544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740c345e34e1b" /><Relationship Type="http://schemas.openxmlformats.org/officeDocument/2006/relationships/notesSlide" Target="/ppt/notesSlides/notesSlide4.xml" Id="Rd369d387a0a340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b1f9b9ff24193" /><Relationship Type="http://schemas.openxmlformats.org/officeDocument/2006/relationships/notesSlide" Target="/ppt/notesSlides/notesSlide5.xml" Id="R4b373baead1842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e8ffc3765415d" /><Relationship Type="http://schemas.openxmlformats.org/officeDocument/2006/relationships/notesSlide" Target="/ppt/notesSlides/notesSlide6.xml" Id="Re67562a7e0a24a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7746140124612" /><Relationship Type="http://schemas.openxmlformats.org/officeDocument/2006/relationships/notesSlide" Target="/ppt/notesSlides/notesSlide7.xml" Id="R6bf81ffe57b14e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47ca5a8984bf1" /><Relationship Type="http://schemas.openxmlformats.org/officeDocument/2006/relationships/notesSlide" Target="/ppt/notesSlides/notesSlide8.xml" Id="R8fe337a223e544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75d137f1140f3" /><Relationship Type="http://schemas.openxmlformats.org/officeDocument/2006/relationships/notesSlide" Target="/ppt/notesSlides/notesSlide9.xml" Id="R28ac2e9e5c7b46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5E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4CC03-19C4-47D9-B19D-7D579E8C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EE65D-66E2-49E8-9A6A-4BAB0D09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用向量平移表示</a:t>
            </a:r>
          </a:p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知识图谱关系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8CFB8-8081-4511-A959-B33E7D10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7D9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7D9CC"/>
                </a:solidFill>
                <a:latin typeface="Microsoft YaHei"/>
                <a:ea typeface="Microsoft YaHei"/>
                <a:cs typeface="Microsoft YaHei"/>
              </a:rPr>
              <a:t>Bordes 等 · NIPS 2013</a:t>
            </a:r>
          </a:p>
          <a:p xmlns:a="http://schemas.openxmlformats.org/drawingml/2006/main">
            <a:pPr>
              <a:defRPr sz="2025" b="0">
                <a:solidFill>
                  <a:srgbClr val="C7D9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7D9CC"/>
                </a:solidFill>
                <a:latin typeface="Microsoft YaHei"/>
                <a:ea typeface="Microsoft YaHei"/>
                <a:cs typeface="Microsoft YaHei"/>
              </a:rPr>
              <a:t>论文阅读分享，实验数字引用原论文</a:t>
            </a:r>
          </a:p>
        </p:txBody>
      </p:sp>
    </p:spTree>
    <p:extLst>
      <p:ext uri="{BB962C8B-B14F-4D97-AF65-F5344CB8AC3E}">
        <p14:creationId xmlns:p14="http://schemas.microsoft.com/office/powerpoint/2010/main" val="1130394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CA419-A20C-4F64-AAD1-91C023F0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研究问题：预测缺失的图谱关系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A7B04-6ADC-4EED-912E-19F0D8F8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668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输入由头实体 h、关系 r、尾实体 t 组成的三元组。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BE2AC-3B6F-42D3-8F8C-D72DAFA3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668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给定 (h, r, ?)，对候选实体评分并排序。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D0E64-DF78-424F-BBF3-BF66159B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668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模型学习已知图结构，再推测未记录的事实。</a:t>
            </a:r>
          </a:p>
        </p:txBody>
      </p:sp>
    </p:spTree>
    <p:extLst>
      <p:ext uri="{BB962C8B-B14F-4D97-AF65-F5344CB8AC3E}">
        <p14:creationId xmlns:p14="http://schemas.microsoft.com/office/powerpoint/2010/main" val="847927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2E8A1-9760-4EC8-9D08-8AAA9EB6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关系表示为向量平移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1C9E9-29A6-4604-9D89-E3BCD86B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205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205E49"/>
                </a:solidFill>
                <a:latin typeface="Microsoft YaHei"/>
                <a:ea typeface="Microsoft YaHei"/>
                <a:cs typeface="Microsoft YaHei"/>
              </a:rPr>
              <a:t>h + r ≈ 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73F75-5F7E-4884-8E51-AD816CAC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每个实体和关系对应一个 k 维向量。</a:t>
            </a:r>
          </a:p>
          <a:p xmlns:a="http://schemas.openxmlformats.org/drawingml/2006/main">
            <a:pPr>
              <a:defRPr sz="2475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能量 d(h+r, t) 越小，三元组越符合平移假设。</a:t>
            </a:r>
          </a:p>
        </p:txBody>
      </p:sp>
    </p:spTree>
    <p:extLst>
      <p:ext uri="{BB962C8B-B14F-4D97-AF65-F5344CB8AC3E}">
        <p14:creationId xmlns:p14="http://schemas.microsoft.com/office/powerpoint/2010/main" val="4567871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722C1-0DA3-4E5C-BFFE-21240079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训练：区分真实与损坏三元组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30312-AE9F-4E9A-A7F6-4C3C06C8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5E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5E49"/>
                </a:solidFill>
                <a:latin typeface="Microsoft YaHei"/>
                <a:ea typeface="Microsoft YaHei"/>
                <a:cs typeface="Microsoft YaHei"/>
              </a:rPr>
              <a:t>L = max(0, γ + d_pos − d_neg)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5A773-F25D-4175-9D70-48C4EB58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随机替换头或尾实体，构造训练负样本。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A0CD5-EC6E-4A42-BFD1-00EF8ABD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小批量 SGD 让正例能量比负例至少低一个间隔。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F30DF-31CA-41BA-845A-55AAE0A9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每轮归一化实体向量，用验证集选参数和早停。</a:t>
            </a:r>
          </a:p>
        </p:txBody>
      </p:sp>
    </p:spTree>
    <p:extLst>
      <p:ext uri="{BB962C8B-B14F-4D97-AF65-F5344CB8AC3E}">
        <p14:creationId xmlns:p14="http://schemas.microsoft.com/office/powerpoint/2010/main" val="11613314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0DDEC-2249-4A26-90CA-3D4E5507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论文实验数据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571750"/>
                <a:gridCol w="2381250"/>
                <a:gridCol w="3924300"/>
              </a:tblGrid>
              <a:tr h="7977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</a:t>
                      </a:r>
                    </a:p>
                  </a:txBody>
                  <a:tcPr marL="91440" marR="91440" marT="45720" marB="45720">
                    <a:solidFill>
                      <a:srgbClr val="205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实体</a:t>
                      </a:r>
                    </a:p>
                  </a:txBody>
                  <a:tcPr marL="91440" marR="91440" marT="45720" marB="45720">
                    <a:solidFill>
                      <a:srgbClr val="205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</a:t>
                      </a:r>
                    </a:p>
                  </a:txBody>
                  <a:tcPr marL="91440" marR="91440" marT="45720" marB="45720">
                    <a:solidFill>
                      <a:srgbClr val="205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训练三元组</a:t>
                      </a:r>
                    </a:p>
                  </a:txBody>
                  <a:tcPr marL="91440" marR="91440" marT="45720" marB="45720">
                    <a:solidFill>
                      <a:srgbClr val="205E49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WN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40,943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141,442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FB15k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14,951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1,345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483,142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FB1M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100 万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23,382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1,750 万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87826-B73A-49E0-9B63-12FADC1F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rPr>
              <a:t>来源：原论文表 2。以上是作者实验数据，不是 MovieLens。</a:t>
            </a:r>
          </a:p>
        </p:txBody>
      </p:sp>
    </p:spTree>
    <p:extLst>
      <p:ext uri="{BB962C8B-B14F-4D97-AF65-F5344CB8AC3E}">
        <p14:creationId xmlns:p14="http://schemas.microsoft.com/office/powerpoint/2010/main" val="9676159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FD578-B763-4334-83FC-DB01FD6F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评价：Mean Rank 与 Hits@10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BD6F9-F66E-4422-BC50-0173E354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Mean Rank：正确实体的平均排名，越低越好。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92935-EA9E-4D70-B501-5B2BD87C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Hits@10：正确实体进入前十的比例，越高越好。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C86E8-645F-45C1-85F3-E5E0DDC3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Raw 对所有候选直接排序。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5E193-106C-4433-8249-B575650B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Filtered 去除其他已知真事实，减少不合理的排名惩罚。</a:t>
            </a:r>
          </a:p>
        </p:txBody>
      </p:sp>
    </p:spTree>
    <p:extLst>
      <p:ext uri="{BB962C8B-B14F-4D97-AF65-F5344CB8AC3E}">
        <p14:creationId xmlns:p14="http://schemas.microsoft.com/office/powerpoint/2010/main" val="2651002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595E3-7875-4AF9-913A-0885F840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原论文主要结果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048000"/>
                <a:gridCol w="31623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 / 设置</a:t>
                      </a:r>
                    </a:p>
                  </a:txBody>
                  <a:tcPr marL="91440" marR="91440" marT="45720" marB="45720">
                    <a:solidFill>
                      <a:srgbClr val="205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Mean Rank ↓</a:t>
                      </a:r>
                    </a:p>
                  </a:txBody>
                  <a:tcPr marL="91440" marR="91440" marT="45720" marB="45720">
                    <a:solidFill>
                      <a:srgbClr val="205E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Hits@10 ↑</a:t>
                      </a:r>
                    </a:p>
                  </a:txBody>
                  <a:tcPr marL="91440" marR="91440" marT="45720" marB="45720">
                    <a:solidFill>
                      <a:srgbClr val="205E4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WN / Raw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263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75.4%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WN / Filtered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251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89.2%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FB15k / Raw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243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34.9%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FB15k / Filtered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125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47.1%</a:t>
                      </a:r>
                    </a:p>
                  </a:txBody>
                  <a:tcPr marL="91440" marR="91440" marT="45720" marB="45720">
                    <a:solidFill>
                      <a:srgbClr val="F5F6F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FB1M / Raw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14,615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5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34.0%</a:t>
                      </a:r>
                    </a:p>
                  </a:txBody>
                  <a:tcPr marL="91440" marR="91440" marT="45720" marB="45720">
                    <a:solidFill>
                      <a:srgbClr val="E6EDE4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96F37-96C9-4E90-BE49-A8B7C581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96B"/>
                </a:solidFill>
                <a:latin typeface="Microsoft YaHei"/>
                <a:ea typeface="Microsoft YaHei"/>
                <a:cs typeface="Microsoft YaHei"/>
              </a:rPr>
              <a:t>来源：Bordes 等，NIPS 2013，表 3。并非本组实验结果。</a:t>
            </a:r>
          </a:p>
        </p:txBody>
      </p:sp>
    </p:spTree>
    <p:extLst>
      <p:ext uri="{BB962C8B-B14F-4D97-AF65-F5344CB8AC3E}">
        <p14:creationId xmlns:p14="http://schemas.microsoft.com/office/powerpoint/2010/main" val="708282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946FA-F7DE-49AD-8EED-5410BC08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平移假设的局限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E97D4-95BD-4554-962F-1513631F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一对多关系可能把多个不同尾实体推向相近位置。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025EB-D33B-49CD-B30C-EE4C6548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复杂三元交互难以用简单平移充分表达。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CADFB-77F4-4E32-AC55-7EDC322E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随机负样本可能包含尚未记录的真实事实。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3D3B7-A146-4332-83F5-58B1EC63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原论文按关系基数分别评价，并非所有子类别都领先。</a:t>
            </a:r>
          </a:p>
        </p:txBody>
      </p:sp>
    </p:spTree>
    <p:extLst>
      <p:ext uri="{BB962C8B-B14F-4D97-AF65-F5344CB8AC3E}">
        <p14:creationId xmlns:p14="http://schemas.microsoft.com/office/powerpoint/2010/main" val="1557356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E0537-076A-4649-BCDF-EEDF8498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与 MovieGraph 的联系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E53A8-9DD3-4395-9B2E-EE1329AB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本项目按已有的共同类型和标签进行推荐。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E2D93-3E8A-4EEE-9E72-84A73E21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TransE 学习向量，目标是预测可能缺失的图谱事实。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D9303-9E65-4DFE-BF21-DEAB5180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未来实验需独立划分数据、设置负样本并比较基线。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3D159-EADA-4E37-8569-4CCF2F5F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52D"/>
                </a:solidFill>
                <a:latin typeface="Microsoft YaHei"/>
                <a:ea typeface="Microsoft YaHei"/>
                <a:cs typeface="Microsoft YaHei"/>
              </a:rPr>
              <a:t>模型预测边和已知事实应明确区分，保留证据来源。</a:t>
            </a:r>
          </a:p>
        </p:txBody>
      </p:sp>
    </p:spTree>
    <p:extLst>
      <p:ext uri="{BB962C8B-B14F-4D97-AF65-F5344CB8AC3E}">
        <p14:creationId xmlns:p14="http://schemas.microsoft.com/office/powerpoint/2010/main" val="2131807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2026-10-02T08:01:09.1330000Z</dcterms:created>
  <dcterms:modified xsi:type="dcterms:W3CDTF">2026-10-02T08:01:09.1330000Z</dcterms:modified>
</coreProperties>
</file>