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c07b2cc3484347" /><Relationship Type="http://schemas.openxmlformats.org/officeDocument/2006/relationships/extended-properties" Target="/docProps/app.xml" Id="R23e8fe6770ba4ba6" /><Relationship Type="http://schemas.openxmlformats.org/officeDocument/2006/relationships/officeDocument" Target="/ppt/presentation.xml" Id="R2d41fb969c444a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7f2f292ae74f87"/>
  </p:sldMasterIdLst>
  <p:notesMasterIdLst>
    <p:notesMasterId xmlns:r="http://schemas.openxmlformats.org/officeDocument/2006/relationships" r:id="R47789f2bc6be4b4f"/>
  </p:notesMasterIdLst>
  <p:sldIdLst>
    <p:sldId xmlns:r="http://schemas.openxmlformats.org/officeDocument/2006/relationships" id="256" r:id="Rbaf7d7633ffb4bc4"/>
    <p:sldId xmlns:r="http://schemas.openxmlformats.org/officeDocument/2006/relationships" id="257" r:id="R7230235a8d0e4f59"/>
    <p:sldId xmlns:r="http://schemas.openxmlformats.org/officeDocument/2006/relationships" id="258" r:id="R1f788f8804584e8a"/>
    <p:sldId xmlns:r="http://schemas.openxmlformats.org/officeDocument/2006/relationships" id="259" r:id="R2ada3156fd754508"/>
    <p:sldId xmlns:r="http://schemas.openxmlformats.org/officeDocument/2006/relationships" id="260" r:id="R54a9429636c14849"/>
    <p:sldId xmlns:r="http://schemas.openxmlformats.org/officeDocument/2006/relationships" id="261" r:id="R4f8ffca097b44c39"/>
    <p:sldId xmlns:r="http://schemas.openxmlformats.org/officeDocument/2006/relationships" id="262" r:id="R80741779265a4f0b"/>
    <p:sldId xmlns:r="http://schemas.openxmlformats.org/officeDocument/2006/relationships" id="263" r:id="R202500ae2f494a9a"/>
    <p:sldId xmlns:r="http://schemas.openxmlformats.org/officeDocument/2006/relationships" id="264" r:id="R46d420a1527d4add"/>
    <p:sldId xmlns:r="http://schemas.openxmlformats.org/officeDocument/2006/relationships" id="265" r:id="Re36cabb5d3984b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57b6ba96ad4eab" /><Relationship Type="http://schemas.openxmlformats.org/officeDocument/2006/relationships/slideMaster" Target="/ppt/slideMasters/slideMaster1.xml" Id="R8b7f2f292ae74f87" /><Relationship Type="http://schemas.openxmlformats.org/officeDocument/2006/relationships/notesMaster" Target="/ppt/notesMasters/notesMaster1.xml" Id="R47789f2bc6be4b4f" /><Relationship Type="http://schemas.openxmlformats.org/officeDocument/2006/relationships/presProps" Target="/ppt/presProps.xml" Id="R449a69d40c404f0b" /><Relationship Type="http://schemas.openxmlformats.org/officeDocument/2006/relationships/tableStyles" Target="/ppt/tableStyles.xml" Id="Re59a20f71921473a" /><Relationship Type="http://schemas.openxmlformats.org/officeDocument/2006/relationships/slide" Target="/ppt/slides/slide1.xml" Id="Rbaf7d7633ffb4bc4" /><Relationship Type="http://schemas.openxmlformats.org/officeDocument/2006/relationships/slide" Target="/ppt/slides/slide2.xml" Id="R7230235a8d0e4f59" /><Relationship Type="http://schemas.openxmlformats.org/officeDocument/2006/relationships/slide" Target="/ppt/slides/slide3.xml" Id="R1f788f8804584e8a" /><Relationship Type="http://schemas.openxmlformats.org/officeDocument/2006/relationships/slide" Target="/ppt/slides/slide4.xml" Id="R2ada3156fd754508" /><Relationship Type="http://schemas.openxmlformats.org/officeDocument/2006/relationships/slide" Target="/ppt/slides/slide5.xml" Id="R54a9429636c14849" /><Relationship Type="http://schemas.openxmlformats.org/officeDocument/2006/relationships/slide" Target="/ppt/slides/slide6.xml" Id="R4f8ffca097b44c39" /><Relationship Type="http://schemas.openxmlformats.org/officeDocument/2006/relationships/slide" Target="/ppt/slides/slide7.xml" Id="R80741779265a4f0b" /><Relationship Type="http://schemas.openxmlformats.org/officeDocument/2006/relationships/slide" Target="/ppt/slides/slide8.xml" Id="R202500ae2f494a9a" /><Relationship Type="http://schemas.openxmlformats.org/officeDocument/2006/relationships/slide" Target="/ppt/slides/slide9.xml" Id="R46d420a1527d4add" /><Relationship Type="http://schemas.openxmlformats.org/officeDocument/2006/relationships/slide" Target="/ppt/slides/slide10.xml" Id="Re36cabb5d3984b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090ad26f4f48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0131142f144808" /><Relationship Type="http://schemas.openxmlformats.org/officeDocument/2006/relationships/notesMaster" Target="/ppt/notesMasters/notesMaster1.xml" Id="R4d34fdffd10f4e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fc3a31f27a4d29" /><Relationship Type="http://schemas.openxmlformats.org/officeDocument/2006/relationships/notesMaster" Target="/ppt/notesMasters/notesMaster1.xml" Id="R7001a360b98146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2a799136b848be" /><Relationship Type="http://schemas.openxmlformats.org/officeDocument/2006/relationships/notesMaster" Target="/ppt/notesMasters/notesMaster1.xml" Id="R1f48d91633b74c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e322367cfd430e" /><Relationship Type="http://schemas.openxmlformats.org/officeDocument/2006/relationships/notesMaster" Target="/ppt/notesMasters/notesMaster1.xml" Id="R497cc71d52ab4b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5d15923f7e4e4e" /><Relationship Type="http://schemas.openxmlformats.org/officeDocument/2006/relationships/notesMaster" Target="/ppt/notesMasters/notesMaster1.xml" Id="Rbb687172c06a43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ddb0e40bac4a5c" /><Relationship Type="http://schemas.openxmlformats.org/officeDocument/2006/relationships/notesMaster" Target="/ppt/notesMasters/notesMaster1.xml" Id="R08537b2bac9f42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77326c8537432d" /><Relationship Type="http://schemas.openxmlformats.org/officeDocument/2006/relationships/notesMaster" Target="/ppt/notesMasters/notesMaster1.xml" Id="R6abf1cd580614e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2ebe15a58c48b0" /><Relationship Type="http://schemas.openxmlformats.org/officeDocument/2006/relationships/notesMaster" Target="/ppt/notesMasters/notesMaster1.xml" Id="Rfddc2d3309394d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97d8b23b94455c" /><Relationship Type="http://schemas.openxmlformats.org/officeDocument/2006/relationships/notesMaster" Target="/ppt/notesMasters/notesMaster1.xml" Id="R671c159421d048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4aa3a535764524" /><Relationship Type="http://schemas.openxmlformats.org/officeDocument/2006/relationships/notesMaster" Target="/ppt/notesMasters/notesMaster1.xml" Id="R5c5a0767fab54e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项目源自《第四组分工.pdf》。本项目实际采用 Streamlit、FastAPI、Neo4j，统一实现。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演示顺序：搜索 Toy Story，点击 Animation 节点，再查看推荐理由。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来源：https://grouplens.org/datasets/movielens/latest/ 。统计由 scripts/prepare_data.py 生成，见 data/processed/stats.json。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实体关系说明见 docs/架构与接口.md。图中展示实际数据示例。内部节点使用 MovieGraph 前缀和数据版本，避免污染其他图数据。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代码：frontend/app.py、backend/app.py、backend/graph.py、scripts/prepare_data.py、scripts/import_graph.py。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实际接口 /api/movies/1/recommendations。Toy Story 为查询电影。分数排序降序，相同分数按 movieId 升序。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实际系统截图，使用真实 MovieLens 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实际页面点击与数据见 deliverables/系统演示.mp4。图谱限制关联电影数量，节点支持点击、拖动和缩放。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来源：docs/test_results.json、docs/browser_results.json、docs/demo_checks.json。统计为本机实际测试，非用户推荐效果实验。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当前算法不训练 TransE。数据许可见 data/raw/README.txt。项目图谱与论文分享属于两个交付部分。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2b05fb23044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188bbd5f21441e" /><Relationship Type="http://schemas.openxmlformats.org/officeDocument/2006/relationships/slideLayout" Target="/ppt/slideLayouts/slideLayout1.xml" Id="R29484732a4804d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484732a4804d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7ff3384d140b4" /><Relationship Type="http://schemas.openxmlformats.org/officeDocument/2006/relationships/notesSlide" Target="/ppt/notesSlides/notesSlide1.xml" Id="R596b30f42b4641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ea3bb141a40e3" /><Relationship Type="http://schemas.openxmlformats.org/officeDocument/2006/relationships/notesSlide" Target="/ppt/notesSlides/notesSlide2.xml" Id="Rc304d10f208e42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5fe6994e64a0c" /><Relationship Type="http://schemas.openxmlformats.org/officeDocument/2006/relationships/notesSlide" Target="/ppt/notesSlides/notesSlide3.xml" Id="R7e4c6b6482a14d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cf31fd1b24655" /><Relationship Type="http://schemas.openxmlformats.org/officeDocument/2006/relationships/notesSlide" Target="/ppt/notesSlides/notesSlide4.xml" Id="R1171129e47a349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33f7e3f034cf0" /><Relationship Type="http://schemas.openxmlformats.org/officeDocument/2006/relationships/notesSlide" Target="/ppt/notesSlides/notesSlide5.xml" Id="R96452843607848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b5ebe62464da0" /><Relationship Type="http://schemas.openxmlformats.org/officeDocument/2006/relationships/notesSlide" Target="/ppt/notesSlides/notesSlide6.xml" Id="R6659a31c98b64e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965dced0340f0" /><Relationship Type="http://schemas.openxmlformats.org/officeDocument/2006/relationships/image" Target="/ppt/media/image.png" Id="Ra9a023f538944fed" /><Relationship Type="http://schemas.openxmlformats.org/officeDocument/2006/relationships/notesSlide" Target="/ppt/notesSlides/notesSlide7.xml" Id="Rcbfe496c3caa47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8813af2a44163" /><Relationship Type="http://schemas.openxmlformats.org/officeDocument/2006/relationships/image" Target="/ppt/media/image2.png" Id="R35e226cc4c444728" /><Relationship Type="http://schemas.openxmlformats.org/officeDocument/2006/relationships/notesSlide" Target="/ppt/notesSlides/notesSlide8.xml" Id="R8d047b3c2a2b4e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1f256a8704bb9" /><Relationship Type="http://schemas.openxmlformats.org/officeDocument/2006/relationships/notesSlide" Target="/ppt/notesSlides/notesSlide9.xml" Id="Rbe4164d654b341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bc968742443dd" /><Relationship Type="http://schemas.openxmlformats.org/officeDocument/2006/relationships/notesSlide" Target="/ppt/notesSlides/notesSlide10.xml" Id="R0d5d6985608d4f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5E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2843B-7337-47E9-95C9-8D789ED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MovieGraph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943A1-D8B2-40C8-A8CC-C3307D85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电影知识图谱与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可解释推荐系统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89763-5E2F-453F-AEC7-389C74B1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7D9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7D9CC"/>
                </a:solidFill>
                <a:latin typeface="Microsoft YaHei"/>
                <a:ea typeface="Microsoft YaHei"/>
                <a:cs typeface="Microsoft YaHei"/>
              </a:rPr>
              <a:t>MovieLens Latest Small</a:t>
            </a:r>
          </a:p>
        </p:txBody>
      </p:sp>
    </p:spTree>
    <p:extLst>
      <p:ext uri="{BB962C8B-B14F-4D97-AF65-F5344CB8AC3E}">
        <p14:creationId xmlns:p14="http://schemas.microsoft.com/office/powerpoint/2010/main" val="597098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6FBF0-789C-4340-8134-E62C2995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系统提供三种探索方式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898A5-ECC2-47FC-9367-31F85BC8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电影查询：部分标题检索，按 movieId 区分重名电影。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483E4-D0F3-4D56-B87C-1B65D812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局部图谱：点击类型、标签或电影，沿真实关系探索。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5516E-A579-4E12-9431-48ABA666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可解释推荐：最多五部电影，逐项展示共享关系。</a:t>
            </a:r>
          </a:p>
        </p:txBody>
      </p:sp>
    </p:spTree>
    <p:extLst>
      <p:ext uri="{BB962C8B-B14F-4D97-AF65-F5344CB8AC3E}">
        <p14:creationId xmlns:p14="http://schemas.microsoft.com/office/powerpoint/2010/main" val="803819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33E8D-88B9-468F-B932-E62CDBFF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数据与清洗结果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571750"/>
                <a:gridCol w="5543550"/>
              </a:tblGrid>
              <a:tr h="809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数据项目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原始记录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清洗后结果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电影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9,742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9,742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含缺失占位符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个类型 / 22,050 条关系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标签应用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3,683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3,574 条关系 / 1,475 个标签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AA226-58A9-4B32-BA0B-42D4CB2E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rPr>
              <a:t>标签统一 Unicode、空白与大小写，按电影去重。</a:t>
            </a:r>
          </a:p>
          <a:p xmlns:a="http://schemas.openxmlformats.org/drawingml/2006/main">
            <a:pPr>
              <a:defRPr sz="2025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rPr>
              <a:t>8,170 部电影无标签，34 部电影未列出类型。</a:t>
            </a:r>
          </a:p>
        </p:txBody>
      </p:sp>
    </p:spTree>
    <p:extLst>
      <p:ext uri="{BB962C8B-B14F-4D97-AF65-F5344CB8AC3E}">
        <p14:creationId xmlns:p14="http://schemas.microsoft.com/office/powerpoint/2010/main" val="1995735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A6F95-0E42-4CBA-9FAC-AC1ABEAE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图谱模型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BE85E-0B45-4D5F-9888-10ED25CA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5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5E49"/>
                </a:solidFill>
                <a:latin typeface="Microsoft YaHei"/>
                <a:ea typeface="Microsoft YaHei"/>
                <a:cs typeface="Microsoft YaHei"/>
              </a:rPr>
              <a:t>电影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B5DA3-F209-46D2-A07B-6FB3A707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Toy Story (1995)</a:t>
            </a:r>
          </a:p>
          <a:p xmlns:a="http://schemas.openxmlformats.org/drawingml/2006/main">
            <a:pPr>
              <a:def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movieId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3F107-B5D8-439C-88FB-D93240D8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764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rPr>
              <a:t>IN_GENRE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94013-4F4E-4CE3-BFA8-1564A00B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5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5E49"/>
                </a:solidFill>
                <a:latin typeface="Microsoft YaHei"/>
                <a:ea typeface="Microsoft YaHei"/>
                <a:cs typeface="Microsoft YaHei"/>
              </a:rPr>
              <a:t>Animation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D85E1-9F41-464B-AC27-7BE21F04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24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rPr>
              <a:t>HAS_TAG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30EC1-BFDF-4352-B999-D05BBCB0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C7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C783F"/>
                </a:solidFill>
                <a:latin typeface="Microsoft YaHei"/>
                <a:ea typeface="Microsoft YaHei"/>
                <a:cs typeface="Microsoft YaHei"/>
              </a:rPr>
              <a:t>pixar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6A164-9CDD-4463-B208-CD928384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rPr>
              <a:t>电影以 ID 唯一定位；类型和标签分别去重。</a:t>
            </a:r>
          </a:p>
          <a:p xmlns:a="http://schemas.openxmlformats.org/drawingml/2006/main">
            <a:pPr>
              <a:defRPr sz="2175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rPr>
              <a:t>数据版本验证完成后才切换为活动图谱。</a:t>
            </a:r>
          </a:p>
        </p:txBody>
      </p:sp>
    </p:spTree>
    <p:extLst>
      <p:ext uri="{BB962C8B-B14F-4D97-AF65-F5344CB8AC3E}">
        <p14:creationId xmlns:p14="http://schemas.microsoft.com/office/powerpoint/2010/main" val="10917733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73C20-3137-46F5-B1C4-28E7095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前后端与可重复导入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C7E58-F505-4F7B-B7F8-A248E764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Streamlit 前端通过 HTTP 请求独立 FastAPI 后端。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499CC-5043-458A-AE0E-87A1938F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FastAPI 执行参数化 Cypher，Neo4j 保存真实图关系。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5567F-6F87-43D5-8C51-F621D6F2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原始 CSV 清洗后生成版本指纹，MERGE 导入可重复运行。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946FF-57B9-4C23-BE67-81983423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start.bat 启动本地环境，rebuild.bat 重新生成图谱。</a:t>
            </a:r>
          </a:p>
        </p:txBody>
      </p:sp>
    </p:spTree>
    <p:extLst>
      <p:ext uri="{BB962C8B-B14F-4D97-AF65-F5344CB8AC3E}">
        <p14:creationId xmlns:p14="http://schemas.microsoft.com/office/powerpoint/2010/main" val="1123720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1E554-FA7E-4DA4-B3BE-2A5F8EB8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推荐分数来自实际共享关系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B3E98-1F5A-430D-9B66-00A9D4DE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05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05E49"/>
                </a:solidFill>
                <a:latin typeface="Microsoft YaHei"/>
                <a:ea typeface="Microsoft YaHei"/>
                <a:cs typeface="Microsoft YaHei"/>
              </a:rPr>
              <a:t>score = 共同类型数 + 共同标签数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1619250"/>
                <a:gridCol w="2381250"/>
                <a:gridCol w="16383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相似电影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类型数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标签数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分数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Toy Story 2 (1999)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1（pixar）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The Lego Movie (2014)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1（fun）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Space Jam (1996)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1949C-0352-4D91-892A-04B6C7A3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rPr>
              <a:t>不包含自身和零分候选。分数表示关系数量，不代表预测评分。</a:t>
            </a:r>
          </a:p>
        </p:txBody>
      </p:sp>
    </p:spTree>
    <p:extLst>
      <p:ext uri="{BB962C8B-B14F-4D97-AF65-F5344CB8AC3E}">
        <p14:creationId xmlns:p14="http://schemas.microsoft.com/office/powerpoint/2010/main" val="911812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2047F-3ABC-450B-9AF8-B98A3913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电影查询与推荐页面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023f538944fed"/>
          <a:stretch xmlns:a="http://schemas.openxmlformats.org/drawingml/2006/main"/>
        </p:blipFill>
        <p:spPr>
          <a:xfrm xmlns:a="http://schemas.openxmlformats.org/drawingml/2006/main">
            <a:off x="2249714" y="1390650"/>
            <a:ext cx="7692571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9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76214-B1E9-40CE-BDD0-B69E4C50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局部图谱与关系证据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226cc4c444728"/>
          <a:stretch xmlns:a="http://schemas.openxmlformats.org/drawingml/2006/main"/>
        </p:blipFill>
        <p:spPr>
          <a:xfrm xmlns:a="http://schemas.openxmlformats.org/drawingml/2006/main">
            <a:off x="2328333" y="1371600"/>
            <a:ext cx="7535333" cy="5086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565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854F1-390D-4636-AAF3-265F3380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功能验收结果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FA5F5-CAB9-44FA-A8D4-BD2E9E5D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全部 9,742 部电影的类型、标签关系与原始 CSV 一致。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A7766-8F73-4BD3-85BB-B21EF9C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固定随机种子抽查 20 部电影，23 组推荐与独立计算一致。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8F5E0-A678-48ED-A8BC-A81DF2BA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66 项后端检查通过，包括重复导入、分页和错误参数。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97343-9323-4EB6-931E-867F1360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浏览器检验节点点击、推荐跳转、同名与空结果等场景。</a:t>
            </a:r>
          </a:p>
        </p:txBody>
      </p:sp>
    </p:spTree>
    <p:extLst>
      <p:ext uri="{BB962C8B-B14F-4D97-AF65-F5344CB8AC3E}">
        <p14:creationId xmlns:p14="http://schemas.microsoft.com/office/powerpoint/2010/main" val="8543121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F7B0B-256C-4C20-BA2D-DD82AF4E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局限与后续研究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58C59-0735-4B56-84AA-DD5C7505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标签覆盖有限：8,170 部电影无标签，类型推荐容易同分。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9E90A-1D35-4A5A-9FFC-7D6F1EC9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数据为 2018 年快照，用户标签带有主观性。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61887-A318-4893-B155-408B9479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当前没有用户画像或推荐满意度实验。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8021D-9D9D-498B-B093-198554A9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后续可比较标签权重与图嵌入方法，另行设计训练和评估。</a:t>
            </a:r>
          </a:p>
        </p:txBody>
      </p:sp>
    </p:spTree>
    <p:extLst>
      <p:ext uri="{BB962C8B-B14F-4D97-AF65-F5344CB8AC3E}">
        <p14:creationId xmlns:p14="http://schemas.microsoft.com/office/powerpoint/2010/main" val="1605075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2026-10-02T08:00:51.1060000Z</dcterms:created>
  <dcterms:modified xsi:type="dcterms:W3CDTF">2026-10-02T08:00:51.1060000Z</dcterms:modified>
</coreProperties>
</file>